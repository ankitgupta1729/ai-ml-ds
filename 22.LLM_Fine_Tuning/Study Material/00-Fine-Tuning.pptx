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embeddedFontLst>
    <p:embeddedFont>
      <p:font typeface="Montserrat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Montserrat-regular.fntdata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font" Target="fonts/Montserrat-italic.fntdata"/><Relationship Id="rId63" Type="http://schemas.openxmlformats.org/officeDocument/2006/relationships/font" Target="fonts/Montserrat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65" Type="http://schemas.openxmlformats.org/officeDocument/2006/relationships/font" Target="fonts/Montserrat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9dec2e2ee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9dec2e2ee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9dec2e2eed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9dec2e2eed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9dec2e2ee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9dec2e2ee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9ff196b0a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9ff196b0a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9ff196b0a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9ff196b0a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9ff196b0a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9ff196b0a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9ff196b0a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9ff196b0a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9dec2e2ee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9dec2e2ee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9dec2e2eed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9dec2e2eed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9dec2e2ee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9dec2e2ee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9ff196b0a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9ff196b0a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9ff196b0a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9ff196b0a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9ff196b0a1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9ff196b0a1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9ff196b0a1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9ff196b0a1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9ff196b0a1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29ff196b0a1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9ff196b0a1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9ff196b0a1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9ff196b0a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9ff196b0a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29ff196b0a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29ff196b0a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9ff196b0a1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9ff196b0a1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29ff196b0a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29ff196b0a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29ff196b0a1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9ff196b0a1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9ff196b0a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29ff196b0a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9ff196b0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9ff196b0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9ff196b0a1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9ff196b0a1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9ff196b0a1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9ff196b0a1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9ff196b0a1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9ff196b0a1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9ff196b0a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29ff196b0a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9ff196b0a1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9ff196b0a1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9ff196b0a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9ff196b0a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9ff196b0a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9ff196b0a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9dec2e2eed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9dec2e2eed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29ff196b0a1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29ff196b0a1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9ff196b0a1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9ff196b0a1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9dec2e2eed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9dec2e2eed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9dec2e2eed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29dec2e2eed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9dec2e2eed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9dec2e2eed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9dec2e2eed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29dec2e2eed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9dec2e2eed_0_2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9dec2e2eed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29dec2e2eed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29dec2e2eed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29dec2e2eed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29dec2e2eed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9dec2e2eed_0_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29dec2e2eed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9dec2e2eed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29dec2e2eed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29dec2e2eed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29dec2e2eed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29dec2e2eed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29dec2e2eed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9dec2e2eed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9dec2e2eed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9dec2e2eed_0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9dec2e2eed_0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29dec2e2eed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29dec2e2eed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29dec2e2eed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29dec2e2eed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9dec2e2eed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29dec2e2eed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29dec2e2ee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29dec2e2ee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29dec2e2eed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29dec2e2eed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9dec2e2ee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29dec2e2ee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9dec2e2eed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29dec2e2eed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9dec2e2eed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29dec2e2eed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9dec2e2eed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4" name="Google Shape;514;g29dec2e2eed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.png"/><Relationship Id="rId4" Type="http://schemas.openxmlformats.org/officeDocument/2006/relationships/hyperlink" Target="https://openai.com/pricing" TargetMode="External"/><Relationship Id="rId5" Type="http://schemas.openxmlformats.org/officeDocument/2006/relationships/image" Target="../media/image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1850" y="1963912"/>
            <a:ext cx="7265100" cy="121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6"/>
          <p:cNvSpPr txBox="1"/>
          <p:nvPr/>
        </p:nvSpPr>
        <p:spPr>
          <a:xfrm>
            <a:off x="0" y="199842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Welcome to the Course!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7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7"/>
          <p:cNvSpPr txBox="1"/>
          <p:nvPr/>
        </p:nvSpPr>
        <p:spPr>
          <a:xfrm>
            <a:off x="272000" y="854825"/>
            <a:ext cx="8456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Welcome to the course!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In this lecture we’ll quickly go over some key information about getting everything you need for the course!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3" name="Google Shape;11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0" name="Google Shape;120;p28"/>
          <p:cNvSpPr txBox="1"/>
          <p:nvPr/>
        </p:nvSpPr>
        <p:spPr>
          <a:xfrm>
            <a:off x="272000" y="854825"/>
            <a:ext cx="8456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Course Materials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The course materials are linked as a .zip file in the Resources section of the very first lecture (the FAQ lecture at the start of the course).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Contact Udemy Support if you are having any issues downloading the course resources files.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1" name="Google Shape;12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9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p29"/>
          <p:cNvSpPr txBox="1"/>
          <p:nvPr/>
        </p:nvSpPr>
        <p:spPr>
          <a:xfrm>
            <a:off x="272000" y="854825"/>
            <a:ext cx="8456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Course Materials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We use Jupyter Notebooks for the course videos, but feel free to use any editor you prefer (VS Code, PyCharm, etc).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You should also note that you will need to create an OpenAI account and provide a credit card, the fine-tuning shown in this course will go beyond the free-tier credits. (Approximately $10-$15)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9" name="Google Shape;12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0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6" name="Google Shape;136;p30"/>
          <p:cNvSpPr txBox="1"/>
          <p:nvPr/>
        </p:nvSpPr>
        <p:spPr>
          <a:xfrm>
            <a:off x="272000" y="854825"/>
            <a:ext cx="84567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Course Materials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The .zip file also includes a .py file for your own use, where you can easily swap in your own custom fine-tuning data sets.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7" name="Google Shape;13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1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31"/>
          <p:cNvSpPr txBox="1"/>
          <p:nvPr/>
        </p:nvSpPr>
        <p:spPr>
          <a:xfrm>
            <a:off x="272000" y="854825"/>
            <a:ext cx="8456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Course Curriculum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The objective of this course is to get you fine-tuning models on the OpenAI API as quickly as possible.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We’ll jump right in with a brief explanation of how fine-tuning works from a theoretical perspective and then the core section of the course is 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programmatically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fine-tuning a model.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5" name="Google Shape;14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32"/>
          <p:cNvSpPr txBox="1"/>
          <p:nvPr/>
        </p:nvSpPr>
        <p:spPr>
          <a:xfrm>
            <a:off x="0" y="1998425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33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How LLM 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Fine-Tuning Works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4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34"/>
          <p:cNvSpPr txBox="1"/>
          <p:nvPr/>
        </p:nvSpPr>
        <p:spPr>
          <a:xfrm>
            <a:off x="272000" y="854825"/>
            <a:ext cx="8456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Let’s explore the general theory and key ideas behind taking an existing model (e.g. GPT-3.5) and fine-tuning it with your own data for your specific applications.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5" name="Google Shape;16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5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35"/>
          <p:cNvSpPr txBox="1"/>
          <p:nvPr/>
        </p:nvSpPr>
        <p:spPr>
          <a:xfrm>
            <a:off x="272000" y="854825"/>
            <a:ext cx="8456700" cy="44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Fine-tuning lets you get more out of the models available through the API by providing: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Higher quality results than prompting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Ability to train on more examples than can fit in a prompt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Token savings due to shorter prompts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Lower latency requests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6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6"/>
          <p:cNvSpPr txBox="1"/>
          <p:nvPr/>
        </p:nvSpPr>
        <p:spPr>
          <a:xfrm>
            <a:off x="272000" y="854825"/>
            <a:ext cx="88719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Note that fine-tuning is </a:t>
            </a: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not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available for all models and may be deprecated for older models in the future, you can check out which models can be fine-tuned at: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platform.openai.com/docs/guides/fine-tuning 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1" name="Google Shape;18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7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7"/>
          <p:cNvSpPr txBox="1"/>
          <p:nvPr/>
        </p:nvSpPr>
        <p:spPr>
          <a:xfrm>
            <a:off x="272000" y="854825"/>
            <a:ext cx="8871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When can fine-tuning improve results?</a:t>
            </a:r>
            <a:r>
              <a:rPr b="1" lang="en" sz="2600"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9" name="Google Shape;189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38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38"/>
          <p:cNvSpPr txBox="1"/>
          <p:nvPr/>
        </p:nvSpPr>
        <p:spPr>
          <a:xfrm>
            <a:off x="272000" y="854825"/>
            <a:ext cx="8871900" cy="50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When can fine-tuning improve results?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○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Setting the style, tone, format, or other qualitative aspects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○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Improving reliability at producing a desired output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○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Correcting failures to follow complex prompts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○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Handling many edge cases in specific ways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○"/>
            </a:pPr>
            <a:r>
              <a:rPr lang="en" sz="2600">
                <a:latin typeface="Montserrat"/>
                <a:ea typeface="Montserrat"/>
                <a:cs typeface="Montserrat"/>
                <a:sym typeface="Montserrat"/>
              </a:rPr>
              <a:t>Performing a new skill or task that’s hard to articulate in a prompt</a:t>
            </a:r>
            <a:endParaRPr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7" name="Google Shape;197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9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9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5" name="Google Shape;20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0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2" name="Google Shape;212;p40"/>
          <p:cNvSpPr txBox="1"/>
          <p:nvPr/>
        </p:nvSpPr>
        <p:spPr>
          <a:xfrm>
            <a:off x="272000" y="854825"/>
            <a:ext cx="8871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We should note that as of this filming OpenAI has not officially revealed or explained any particular 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methodology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for fine-tuning, however it is widely believed to be some sort of LoRA (Low Rank Adaptive) fine tuning process.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3" name="Google Shape;21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41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0" name="Google Shape;220;p41"/>
          <p:cNvSpPr txBox="1"/>
          <p:nvPr/>
        </p:nvSpPr>
        <p:spPr>
          <a:xfrm>
            <a:off x="272000" y="854825"/>
            <a:ext cx="8871900" cy="31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Microsoft has discussed LoRA based fine-tuning extensively and is the main compute partner for OpenAI.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1" name="Google Shape;22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48063" y="2703075"/>
            <a:ext cx="3247874" cy="2394301"/>
          </a:xfrm>
          <a:prstGeom prst="rect">
            <a:avLst/>
          </a:prstGeom>
          <a:noFill/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42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0" name="Google Shape;230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3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426" y="1416325"/>
            <a:ext cx="6606694" cy="33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44"/>
          <p:cNvPicPr preferRelativeResize="0"/>
          <p:nvPr/>
        </p:nvPicPr>
        <p:blipFill rotWithShape="1">
          <a:blip r:embed="rId3">
            <a:alphaModFix/>
          </a:blip>
          <a:srcRect b="0" l="20754" r="0" t="13194"/>
          <a:stretch/>
        </p:blipFill>
        <p:spPr>
          <a:xfrm>
            <a:off x="6643700" y="1827650"/>
            <a:ext cx="3310976" cy="262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44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8" name="Google Shape;248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4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426" y="1416325"/>
            <a:ext cx="6606694" cy="331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45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6" name="Google Shape;256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45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8" name="Google Shape;25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06500" y="1481550"/>
            <a:ext cx="3731025" cy="281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46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272000" y="854825"/>
            <a:ext cx="88719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Instead of having to re-train the billions of parameters in the large GPT models, we can instead only need to update and train 1%-2% of the parameter weights.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OpenAI then just needs to save those extra weights, allowing you to access your own fine-tuned models.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6" name="Google Shape;266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47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47"/>
          <p:cNvSpPr txBox="1"/>
          <p:nvPr/>
        </p:nvSpPr>
        <p:spPr>
          <a:xfrm>
            <a:off x="272000" y="854825"/>
            <a:ext cx="8871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From a user perspective, the fine-tuning process requires two things: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A base model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A training dataset for fine tuning: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3" marL="18288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Known Inputs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3" marL="18288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Desired Known Outputs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4" name="Google Shape;274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8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p48"/>
          <p:cNvSpPr txBox="1"/>
          <p:nvPr/>
        </p:nvSpPr>
        <p:spPr>
          <a:xfrm>
            <a:off x="272000" y="854825"/>
            <a:ext cx="88719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Fine-Tuning Data Example: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Input: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3" marL="18288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“Patient suffers from a rash on arms.”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Output: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3" marL="18288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“Eczema”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2" name="Google Shape;28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49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9" name="Google Shape;289;p49"/>
          <p:cNvSpPr txBox="1"/>
          <p:nvPr/>
        </p:nvSpPr>
        <p:spPr>
          <a:xfrm>
            <a:off x="272000" y="854825"/>
            <a:ext cx="8871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How does fine-tuning work?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Fine-Tuning Data Example: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Input: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3" marL="18288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“Client requests review of legal documents pertaining to her house.”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Output: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3" marL="18288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“Property Rights Department”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0" name="Google Shape;290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0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50"/>
          <p:cNvSpPr txBox="1"/>
          <p:nvPr/>
        </p:nvSpPr>
        <p:spPr>
          <a:xfrm>
            <a:off x="272000" y="854825"/>
            <a:ext cx="8871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Fine Tuning Applications and Use Cases: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Changing style and tone to your own custom style.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Fine-tuning for very specific 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structured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output or custom code function output.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Classifications based on proprietary data sources. 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8" name="Google Shape;298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1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51"/>
          <p:cNvSpPr txBox="1"/>
          <p:nvPr/>
        </p:nvSpPr>
        <p:spPr>
          <a:xfrm>
            <a:off x="272000" y="854825"/>
            <a:ext cx="8871900" cy="446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Remember to </a:t>
            </a: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always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use the base model first and see if prompt engineering or extra context can achieve your desired results.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Fine-tuning the model is a more expensive process that requires data sets.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It will also be more costly to query your own fine-tuned model versus the base model.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6" name="Google Shape;306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52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3" name="Google Shape;313;p52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Price Differences: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4" name="Google Shape;314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1725" y="1421400"/>
            <a:ext cx="5595226" cy="1270530"/>
          </a:xfrm>
          <a:prstGeom prst="rect">
            <a:avLst/>
          </a:prstGeom>
          <a:noFill/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16" name="Google Shape;316;p52"/>
          <p:cNvSpPr txBox="1"/>
          <p:nvPr/>
        </p:nvSpPr>
        <p:spPr>
          <a:xfrm>
            <a:off x="7193450" y="1726300"/>
            <a:ext cx="15513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Base</a:t>
            </a:r>
            <a:endParaRPr b="1" sz="1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3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53"/>
          <p:cNvSpPr txBox="1"/>
          <p:nvPr/>
        </p:nvSpPr>
        <p:spPr>
          <a:xfrm>
            <a:off x="272000" y="854825"/>
            <a:ext cx="88719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Price Differences: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4" name="Google Shape;324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5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1713" y="2887975"/>
            <a:ext cx="5595226" cy="1669050"/>
          </a:xfrm>
          <a:prstGeom prst="rect">
            <a:avLst/>
          </a:prstGeom>
          <a:noFill/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6" name="Google Shape;326;p53"/>
          <p:cNvSpPr txBox="1"/>
          <p:nvPr/>
        </p:nvSpPr>
        <p:spPr>
          <a:xfrm>
            <a:off x="7193450" y="3326500"/>
            <a:ext cx="15513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Fine-Tuned</a:t>
            </a:r>
            <a:endParaRPr b="1" sz="1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5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411725" y="1421400"/>
            <a:ext cx="5595226" cy="1270530"/>
          </a:xfrm>
          <a:prstGeom prst="rect">
            <a:avLst/>
          </a:prstGeom>
          <a:noFill/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8" name="Google Shape;328;p53"/>
          <p:cNvSpPr txBox="1"/>
          <p:nvPr/>
        </p:nvSpPr>
        <p:spPr>
          <a:xfrm>
            <a:off x="7193450" y="1726300"/>
            <a:ext cx="15513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Base</a:t>
            </a:r>
            <a:endParaRPr b="1" sz="1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Model</a:t>
            </a:r>
            <a:endParaRPr b="1" sz="1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54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5" name="Google Shape;335;p54"/>
          <p:cNvSpPr txBox="1"/>
          <p:nvPr/>
        </p:nvSpPr>
        <p:spPr>
          <a:xfrm>
            <a:off x="272000" y="854825"/>
            <a:ext cx="88719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Later on in the course we’ll have a much more detailed discussion on setting up your data sets for fine-tuning and best practices.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For now, let’s start getting hands-on by setting up your OpenAI account and 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beginning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to code!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6" name="Google Shape;336;p5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55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OpenAI Account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Set Up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56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56"/>
          <p:cNvSpPr txBox="1"/>
          <p:nvPr/>
        </p:nvSpPr>
        <p:spPr>
          <a:xfrm>
            <a:off x="272000" y="854825"/>
            <a:ext cx="8456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i="1" lang="en" sz="2800"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b="1" i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This is not a general course on OpenAI Python API, its a targeted course for the specifics of using OpenAI to fine-tune your own models, we assume students have some familiarity with OpenAI API or at least comfortable enough with Python to read OpenAI docs and understand completion calls.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0" name="Google Shape;350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7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57"/>
          <p:cNvSpPr txBox="1"/>
          <p:nvPr/>
        </p:nvSpPr>
        <p:spPr>
          <a:xfrm>
            <a:off x="272000" y="854825"/>
            <a:ext cx="8456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OpenAI Account and API Key 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To connect with OpenAI via Python, we’ll need to create an OpenAI Account, provide a credit card, then create and download an OpenAI API Key.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To begin, go to: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https://platform.openai.com/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8" name="Google Shape;358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58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Dataset 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Processing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59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1" name="Google Shape;371;p59"/>
          <p:cNvSpPr txBox="1"/>
          <p:nvPr/>
        </p:nvSpPr>
        <p:spPr>
          <a:xfrm>
            <a:off x="272000" y="854825"/>
            <a:ext cx="8456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Processing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There are 3 main things we need to do for data processing: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Check for invalid or missing data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Get an idea of 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statistics</a:t>
            </a: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 of our data (optional but highly recommended)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■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Format data into correct fine-tuning format for LLM OpenAI Fine-Tuning.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2" name="Google Shape;372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7" name="Google Shape;37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60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Dataset 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Statistics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oogle Shape;383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61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85" name="Google Shape;385;p61"/>
          <p:cNvSpPr txBox="1"/>
          <p:nvPr/>
        </p:nvSpPr>
        <p:spPr>
          <a:xfrm>
            <a:off x="272000" y="854825"/>
            <a:ext cx="8456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Processing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Once you’ve processed your data, the next (optional) step is to get an idea of the text statistics about your data, such as min, max, and mean token lengths.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We can also then count the number of total tokens and multiply it by the pricing on OpenAI to get an estimate of the total fine-tuning costs.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6" name="Google Shape;386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1" name="Google Shape;39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2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3" name="Google Shape;393;p62"/>
          <p:cNvSpPr txBox="1"/>
          <p:nvPr/>
        </p:nvSpPr>
        <p:spPr>
          <a:xfrm>
            <a:off x="272000" y="854825"/>
            <a:ext cx="8456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i="1" lang="en" sz="2800">
                <a:latin typeface="Montserrat"/>
                <a:ea typeface="Montserrat"/>
                <a:cs typeface="Montserrat"/>
                <a:sym typeface="Montserrat"/>
              </a:rPr>
              <a:t>Important Note!</a:t>
            </a:r>
            <a:endParaRPr b="1" i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Pricing changes relatively often, get the latest pricing information at the OpenAI pricing page: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2" marL="1371600" rtl="0" algn="l">
              <a:spcBef>
                <a:spcPts val="0"/>
              </a:spcBef>
              <a:spcAft>
                <a:spcPts val="0"/>
              </a:spcAft>
              <a:buClr>
                <a:srgbClr val="7932FC"/>
              </a:buClr>
              <a:buSzPts val="2800"/>
              <a:buFont typeface="Montserrat"/>
              <a:buChar char="■"/>
            </a:pPr>
            <a:r>
              <a:rPr b="1" lang="en" sz="2800" u="sng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https://openai.com/pricing</a:t>
            </a:r>
            <a:r>
              <a:rPr b="1" lang="en" sz="2800">
                <a:solidFill>
                  <a:srgbClr val="7932FC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2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4" name="Google Shape;394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63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Data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Formatting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5" name="Google Shape;405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64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64"/>
          <p:cNvSpPr txBox="1"/>
          <p:nvPr/>
        </p:nvSpPr>
        <p:spPr>
          <a:xfrm>
            <a:off x="272000" y="854825"/>
            <a:ext cx="8456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A critical part of fine-tuning an LLM on OpenAI is formatting your data.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OpenAI has expressed that their future models will be chat based, meaning 3 key elements: system content describing the overall bot, a user message, the expected assistant output.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8" name="Google Shape;408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65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5" name="Google Shape;415;p65"/>
          <p:cNvSpPr txBox="1"/>
          <p:nvPr/>
        </p:nvSpPr>
        <p:spPr>
          <a:xfrm>
            <a:off x="272000" y="854825"/>
            <a:ext cx="845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6" name="Google Shape;416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5"/>
          <p:cNvSpPr txBox="1"/>
          <p:nvPr/>
        </p:nvSpPr>
        <p:spPr>
          <a:xfrm>
            <a:off x="188500" y="1407050"/>
            <a:ext cx="8785800" cy="3265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[{"role": "system", "content": "Marv is a factual chatbot that is also sarcastic."}, {"role": "user", "content": "What's the capital of France?"}, {"role": "assistant", "content": "Paris, as if everyone doesn't know that already."}]}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[{"role": "system", "content": "Marv is a factual chatbot that is also sarcastic."}, {"role": "user", "content": "Who wrote 'Romeo and Juliet'?"}, {"role": "assistant", "content": "Oh, just some guy named William Shakespeare. Ever heard of him?"}]}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[{"role": "system", "content": "Marv is a factual chatbot that is also sarcastic."}, {"role": "user", "content": "How far is the Moon from Earth?"}, {"role": "assistant", "content": "Around 384,400 kilometers. Give or take a few, like that really matters."}]}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66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66"/>
          <p:cNvSpPr txBox="1"/>
          <p:nvPr/>
        </p:nvSpPr>
        <p:spPr>
          <a:xfrm>
            <a:off x="272000" y="854825"/>
            <a:ext cx="845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5" name="Google Shape;425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6"/>
          <p:cNvSpPr txBox="1"/>
          <p:nvPr/>
        </p:nvSpPr>
        <p:spPr>
          <a:xfrm>
            <a:off x="188500" y="1407050"/>
            <a:ext cx="8785800" cy="3265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</a:t>
            </a:r>
            <a:r>
              <a:rPr lang="en" sz="1600">
                <a:solidFill>
                  <a:srgbClr val="CC0000"/>
                </a:solidFill>
              </a:rPr>
              <a:t>"role": "system", "content"</a:t>
            </a:r>
            <a:r>
              <a:rPr lang="en" sz="1600">
                <a:solidFill>
                  <a:srgbClr val="434343"/>
                </a:solidFill>
              </a:rPr>
              <a:t>: "Marv is a factual chatbot that is also sarcastic."}, {"role": "user", "content": "What's the capital of France?"}, {"role": "assistant", "content": "Paris, as if everyone doesn't know that already."}]}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</a:t>
            </a:r>
            <a:r>
              <a:rPr lang="en" sz="1600">
                <a:solidFill>
                  <a:srgbClr val="CC0000"/>
                </a:solidFill>
              </a:rPr>
              <a:t>"role": "system", "content"</a:t>
            </a:r>
            <a:r>
              <a:rPr lang="en" sz="1600">
                <a:solidFill>
                  <a:srgbClr val="434343"/>
                </a:solidFill>
              </a:rPr>
              <a:t>: "Marv is a factual chatbot that is also sarcastic."}, {"role": "user", "content": "Who wrote 'Romeo and Juliet'?"}, {"role": "assistant", "content": "Oh, just some guy named William Shakespeare. Ever heard of him?"}]}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</a:t>
            </a:r>
            <a:r>
              <a:rPr lang="en" sz="1600">
                <a:solidFill>
                  <a:srgbClr val="CC0000"/>
                </a:solidFill>
              </a:rPr>
              <a:t>"role": "system", "content"</a:t>
            </a:r>
            <a:r>
              <a:rPr lang="en" sz="1600">
                <a:solidFill>
                  <a:srgbClr val="434343"/>
                </a:solidFill>
              </a:rPr>
              <a:t>: "Marv is a factual chatbot that is also sarcastic."}, {"role": "user", "content": "How far is the Moon from Earth?"}, {"role": "assistant", "content": "Around 384,400 kilometers. Give or take a few, like that really matters."}]}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67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3" name="Google Shape;433;p67"/>
          <p:cNvSpPr txBox="1"/>
          <p:nvPr/>
        </p:nvSpPr>
        <p:spPr>
          <a:xfrm>
            <a:off x="272000" y="854825"/>
            <a:ext cx="845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solidFill>
                <a:srgbClr val="7932F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4" name="Google Shape;43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 txBox="1"/>
          <p:nvPr/>
        </p:nvSpPr>
        <p:spPr>
          <a:xfrm>
            <a:off x="188500" y="1407050"/>
            <a:ext cx="8785800" cy="3265200"/>
          </a:xfrm>
          <a:prstGeom prst="rect">
            <a:avLst/>
          </a:prstGeom>
          <a:solidFill>
            <a:srgbClr val="F3F3F3"/>
          </a:solidFill>
          <a:ln cap="flat" cmpd="sng" w="19050">
            <a:solidFill>
              <a:srgbClr val="7932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</a:t>
            </a:r>
            <a:r>
              <a:rPr lang="en" sz="1600">
                <a:solidFill>
                  <a:srgbClr val="CC0000"/>
                </a:solidFill>
              </a:rPr>
              <a:t>"role": "system", "content"</a:t>
            </a:r>
            <a:r>
              <a:rPr lang="en" sz="1600">
                <a:solidFill>
                  <a:srgbClr val="434343"/>
                </a:solidFill>
              </a:rPr>
              <a:t>: "Marv is a factual chatbot that is also sarcastic."}, {</a:t>
            </a:r>
            <a:r>
              <a:rPr lang="en" sz="1600">
                <a:solidFill>
                  <a:srgbClr val="0000FF"/>
                </a:solidFill>
              </a:rPr>
              <a:t>"role": "user", "content"</a:t>
            </a:r>
            <a:r>
              <a:rPr lang="en" sz="1600">
                <a:solidFill>
                  <a:srgbClr val="434343"/>
                </a:solidFill>
              </a:rPr>
              <a:t>: "What's the capital of France?"}, {</a:t>
            </a:r>
            <a:r>
              <a:rPr lang="en" sz="1600">
                <a:solidFill>
                  <a:srgbClr val="38761D"/>
                </a:solidFill>
              </a:rPr>
              <a:t>"role": "assistant", "content"</a:t>
            </a:r>
            <a:r>
              <a:rPr lang="en" sz="1600">
                <a:solidFill>
                  <a:srgbClr val="434343"/>
                </a:solidFill>
              </a:rPr>
              <a:t>: "Paris, as if everyone doesn't know that already."}]}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</a:t>
            </a:r>
            <a:r>
              <a:rPr lang="en" sz="1600">
                <a:solidFill>
                  <a:srgbClr val="CC0000"/>
                </a:solidFill>
              </a:rPr>
              <a:t>"role": "system", "content"</a:t>
            </a:r>
            <a:r>
              <a:rPr lang="en" sz="1600">
                <a:solidFill>
                  <a:srgbClr val="434343"/>
                </a:solidFill>
              </a:rPr>
              <a:t>: "Marv is a factual chatbot that is also sarcastic."}, {</a:t>
            </a:r>
            <a:r>
              <a:rPr lang="en" sz="1600">
                <a:solidFill>
                  <a:srgbClr val="0000FF"/>
                </a:solidFill>
              </a:rPr>
              <a:t>"role": "user", "content"</a:t>
            </a:r>
            <a:r>
              <a:rPr lang="en" sz="1600">
                <a:solidFill>
                  <a:srgbClr val="434343"/>
                </a:solidFill>
              </a:rPr>
              <a:t>: "Who wrote 'Romeo and Juliet'?"}, {</a:t>
            </a:r>
            <a:r>
              <a:rPr lang="en" sz="1600">
                <a:solidFill>
                  <a:srgbClr val="38761D"/>
                </a:solidFill>
              </a:rPr>
              <a:t>"role": "assistant", "content"</a:t>
            </a:r>
            <a:r>
              <a:rPr lang="en" sz="1600">
                <a:solidFill>
                  <a:srgbClr val="434343"/>
                </a:solidFill>
              </a:rPr>
              <a:t>: "Oh, just some guy named William Shakespeare. Ever heard of him?"}]}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434343"/>
                </a:solidFill>
              </a:rPr>
              <a:t>{</a:t>
            </a:r>
            <a:r>
              <a:rPr b="1" lang="en" sz="1600">
                <a:solidFill>
                  <a:srgbClr val="434343"/>
                </a:solidFill>
              </a:rPr>
              <a:t>"messages"</a:t>
            </a:r>
            <a:r>
              <a:rPr lang="en" sz="1600">
                <a:solidFill>
                  <a:srgbClr val="434343"/>
                </a:solidFill>
              </a:rPr>
              <a:t>: [{</a:t>
            </a:r>
            <a:r>
              <a:rPr lang="en" sz="1600">
                <a:solidFill>
                  <a:srgbClr val="CC0000"/>
                </a:solidFill>
              </a:rPr>
              <a:t>"role": "system", "content"</a:t>
            </a:r>
            <a:r>
              <a:rPr lang="en" sz="1600">
                <a:solidFill>
                  <a:srgbClr val="434343"/>
                </a:solidFill>
              </a:rPr>
              <a:t>: "Marv is a factual chatbot that is also sarcastic."}, {</a:t>
            </a:r>
            <a:r>
              <a:rPr lang="en" sz="1600">
                <a:solidFill>
                  <a:srgbClr val="0000FF"/>
                </a:solidFill>
              </a:rPr>
              <a:t>"role": "user", "content"</a:t>
            </a:r>
            <a:r>
              <a:rPr lang="en" sz="1600">
                <a:solidFill>
                  <a:srgbClr val="434343"/>
                </a:solidFill>
              </a:rPr>
              <a:t>: "How far is the Moon from Earth?"}, {</a:t>
            </a:r>
            <a:r>
              <a:rPr lang="en" sz="1600">
                <a:solidFill>
                  <a:srgbClr val="38761D"/>
                </a:solidFill>
              </a:rPr>
              <a:t>"role": "assistant", "content"</a:t>
            </a:r>
            <a:r>
              <a:rPr lang="en" sz="1600">
                <a:solidFill>
                  <a:srgbClr val="434343"/>
                </a:solidFill>
              </a:rPr>
              <a:t>: "Around 384,400 kilometers. Give or take a few, like that really matters."}]}</a:t>
            </a:r>
            <a:endParaRPr sz="16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68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2" name="Google Shape;442;p68"/>
          <p:cNvSpPr txBox="1"/>
          <p:nvPr/>
        </p:nvSpPr>
        <p:spPr>
          <a:xfrm>
            <a:off x="272000" y="854825"/>
            <a:ext cx="8456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The final data set should then be exported to a .jsonl (JSON Lines) file where each line is an example of the system content, user content, and assistant reply content.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43" name="Google Shape;44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8" name="Google Shape;44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69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0" name="Google Shape;450;p69"/>
          <p:cNvSpPr txBox="1"/>
          <p:nvPr/>
        </p:nvSpPr>
        <p:spPr>
          <a:xfrm>
            <a:off x="272000" y="854825"/>
            <a:ext cx="8456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To fine-tune a model, you are required to provide at least 10 examples. 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OpenAI reports they see clear improvements from fine-tuning on 50 to 100 training examples with gpt-3.5-turbo but the right number varies greatly based on the exact use case.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1" name="Google Shape;451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70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70"/>
          <p:cNvSpPr txBox="1"/>
          <p:nvPr/>
        </p:nvSpPr>
        <p:spPr>
          <a:xfrm>
            <a:off x="272000" y="854825"/>
            <a:ext cx="84567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OpenAI recommends starting with 50 well-crafted demonstrations and seeing if the model shows signs of improvement after fine-tuning. 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9" name="Google Shape;459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4" name="Google Shape;464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1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6" name="Google Shape;466;p71"/>
          <p:cNvSpPr txBox="1"/>
          <p:nvPr/>
        </p:nvSpPr>
        <p:spPr>
          <a:xfrm>
            <a:off x="272000" y="854825"/>
            <a:ext cx="8456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In some cases that may be sufficient, but even if the model is not yet production quality, clear improvements are a good sign that providing more data will continue to improve the model. 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7" name="Google Shape;46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2" name="Google Shape;472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600" y="51813"/>
            <a:ext cx="672135" cy="673024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72"/>
          <p:cNvSpPr txBox="1"/>
          <p:nvPr/>
        </p:nvSpPr>
        <p:spPr>
          <a:xfrm>
            <a:off x="867775" y="103625"/>
            <a:ext cx="668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LLM Fine Tuning with OpenAI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72"/>
          <p:cNvSpPr txBox="1"/>
          <p:nvPr/>
        </p:nvSpPr>
        <p:spPr>
          <a:xfrm>
            <a:off x="272000" y="854825"/>
            <a:ext cx="8456700" cy="27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●"/>
            </a:pPr>
            <a:r>
              <a:rPr b="1" lang="en" sz="2800">
                <a:latin typeface="Montserrat"/>
                <a:ea typeface="Montserrat"/>
                <a:cs typeface="Montserrat"/>
                <a:sym typeface="Montserrat"/>
              </a:rPr>
              <a:t>Data Formatting</a:t>
            </a:r>
            <a:endParaRPr b="1" sz="2800">
              <a:latin typeface="Montserrat"/>
              <a:ea typeface="Montserrat"/>
              <a:cs typeface="Montserrat"/>
              <a:sym typeface="Montserrat"/>
            </a:endParaRPr>
          </a:p>
          <a:p>
            <a:pPr indent="-406400" lvl="1" marL="914400" rtl="0" algn="l">
              <a:spcBef>
                <a:spcPts val="0"/>
              </a:spcBef>
              <a:spcAft>
                <a:spcPts val="0"/>
              </a:spcAft>
              <a:buSzPts val="2800"/>
              <a:buFont typeface="Montserrat"/>
              <a:buChar char="○"/>
            </a:pPr>
            <a:r>
              <a:rPr lang="en" sz="2800">
                <a:latin typeface="Montserrat"/>
                <a:ea typeface="Montserrat"/>
                <a:cs typeface="Montserrat"/>
                <a:sym typeface="Montserrat"/>
              </a:rPr>
              <a:t>No improvement suggests that you may need to rethink how to set up the task for the model or restructure the data before scaling beyond a limited example set.</a:t>
            </a:r>
            <a:endParaRPr sz="28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5" name="Google Shape;47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75" y="4788475"/>
            <a:ext cx="1906676" cy="30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3"/>
          <p:cNvSpPr txBox="1"/>
          <p:nvPr/>
        </p:nvSpPr>
        <p:spPr>
          <a:xfrm>
            <a:off x="0" y="1709850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74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Token Length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Checks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75"/>
          <p:cNvSpPr txBox="1"/>
          <p:nvPr/>
        </p:nvSpPr>
        <p:spPr>
          <a:xfrm>
            <a:off x="0" y="1709850"/>
            <a:ext cx="91440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Training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6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Visualizing 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Losses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77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Application of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Fine-Tuned Model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0" name="Google Shape;51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78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Comparison to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Baseline Model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32FC"/>
        </a:solidFill>
      </p:bgPr>
    </p:bg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6" name="Google Shape;51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1249" y="4729022"/>
            <a:ext cx="2021501" cy="33827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79"/>
          <p:cNvSpPr txBox="1"/>
          <p:nvPr/>
        </p:nvSpPr>
        <p:spPr>
          <a:xfrm>
            <a:off x="0" y="1709850"/>
            <a:ext cx="9144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Fine-Tuning via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000">
                <a:solidFill>
                  <a:srgbClr val="F3F3F3"/>
                </a:solidFill>
                <a:latin typeface="Montserrat"/>
                <a:ea typeface="Montserrat"/>
                <a:cs typeface="Montserrat"/>
                <a:sym typeface="Montserrat"/>
              </a:rPr>
              <a:t>Graphical Interface</a:t>
            </a:r>
            <a:endParaRPr b="1" sz="5000">
              <a:solidFill>
                <a:srgbClr val="F3F3F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